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consolata Medium"/>
      <p:regular r:id="rId201314"/>
    </p:embeddedFont>
    <p:embeddedFont>
      <p:font typeface="Inconsolata"/>
      <p:regular r:id="rId201315"/>
    </p:embeddedFont>
    <p:embeddedFont>
      <p:font typeface="Inconsolata ExtraBold"/>
      <p:regular r:id="rId201316"/>
    </p:embeddedFont>
    <p:embeddedFont>
      <p:font typeface="Inconsolata Black"/>
      <p:regular r:id="rId201317"/>
    </p:embeddedFont>
    <p:embeddedFont>
      <p:font typeface="Inconsolata ExtraLight"/>
      <p:regular r:id="rId201318"/>
    </p:embeddedFont>
    <p:embeddedFont>
      <p:font typeface="Inconsolata Light"/>
      <p:regular r:id="rId201319"/>
    </p:embeddedFont>
    <p:embeddedFont>
      <p:font typeface="Inconsolata SemiBold"/>
      <p:regular r:id="rId201320"/>
    </p:embeddedFont>
    <p:embeddedFont>
      <p:font typeface="Inconsolata Bold"/>
      <p:regular r:id="rId201321"/>
    </p:embeddedFont>
    <p:embeddedFont>
      <p:font typeface="Montserrat Thin"/>
      <p:regular r:id="rId201322"/>
    </p:embeddedFont>
    <p:embeddedFont>
      <p:font typeface="Montserrat"/>
      <p:regular r:id="rId201323"/>
    </p:embeddedFont>
    <p:embeddedFont>
      <p:font typeface="Montserrat SemiBold"/>
      <p:regular r:id="rId201324"/>
    </p:embeddedFont>
    <p:embeddedFont>
      <p:font typeface="Montserrat Bold"/>
      <p:regular r:id="rId201325"/>
    </p:embeddedFont>
    <p:embeddedFont>
      <p:font typeface="Montserrat Black"/>
      <p:regular r:id="rId201326"/>
    </p:embeddedFont>
    <p:embeddedFont>
      <p:font typeface="Montserrat Light"/>
      <p:regular r:id="rId201327"/>
    </p:embeddedFont>
    <p:embeddedFont>
      <p:font typeface="Montserrat ExtraLight"/>
      <p:regular r:id="rId201328"/>
    </p:embeddedFont>
    <p:embeddedFont>
      <p:font typeface="Montserrat Medium"/>
      <p:regular r:id="rId201329"/>
    </p:embeddedFont>
    <p:embeddedFont>
      <p:font typeface="Montserrat ExtraBold"/>
      <p:regular r:id="rId2013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ECE4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CargoSync — Intelligent freight &amp; fleet orchestration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Cloud platform that connects shippers with available trucks, automates load planning, and verifies chain-of-custody from pickup to confirmed delivery. Designed for logistics managers, operations leaders and technical product stakeholders.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90886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CargoSync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17390"/>
            <a:ext cx="571798" cy="3533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45096" y="2217390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Reduce empty space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245096" y="2745358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3D bin-packing maximises cubic utilisation so fewer trucks carry the same freight.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217390"/>
            <a:ext cx="571798" cy="353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1410" y="2217390"/>
            <a:ext cx="185015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Eliminate manual errors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21410" y="2745358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QR-based scanning validates manifests at load, in-transit and delivery stages.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217390"/>
            <a:ext cx="571798" cy="35339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97725" y="2217390"/>
            <a:ext cx="185015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Improve visibility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797725" y="2523902"/>
            <a:ext cx="185015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Live GPS, ETA updates and immutable audit logs reduce disputes and speed payouts.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How it works — end to end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682154"/>
            <a:ext cx="8151763" cy="436981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8979" y="1868050"/>
            <a:ext cx="1317291" cy="22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Job Creation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88979" y="2158215"/>
            <a:ext cx="1317291" cy="27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Enter shipment and box-level details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88979" y="3304820"/>
            <a:ext cx="1317291" cy="45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Loading Scans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8979" y="3820893"/>
            <a:ext cx="1317291" cy="406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QR scans and optional door sensors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0853" y="3304820"/>
            <a:ext cx="1317291" cy="4518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Delivery &amp; Payout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0853" y="3820893"/>
            <a:ext cx="1317291" cy="27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Confirm delivery and release escrow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130853" y="1868050"/>
            <a:ext cx="1317291" cy="225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Optimization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0853" y="2158215"/>
            <a:ext cx="1317291" cy="2710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3D bin-packing and reverse sequencing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5091782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 platform moves from job entry to automated optimisation, validated physical handling, and conditional payment release — creating a single, auditable workflow for every shipment.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183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Core modules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041797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487537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 &amp; Accounts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1746498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Multi-tenant company accounts, role-based permissions, billing integration.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9791" y="1041797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39791" y="1487537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Truck &amp; Fleet Management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39791" y="1746498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Define interior dimensions, max load, drivers, schedules and availability.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335634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6119" y="2781374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Booking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6119" y="3040335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Post jobs, preview capacity-fit for nearby trucks, or assign owned assets.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39791" y="2335634"/>
            <a:ext cx="310083" cy="31008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639791" y="2781374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Optimization Engine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39791" y="3040335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3D bin-packing for space efficiency; reverse sequencing to prevent rehandling.</a:t>
            </a:r>
            <a:endParaRPr lang="en-US" sz="9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629471"/>
            <a:ext cx="310083" cy="31008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4075212"/>
            <a:ext cx="400801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Scanning &amp; Chain-of-Custody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96119" y="4334173"/>
            <a:ext cx="4008016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Per-box QR codes, real-time manifest validation, tamper flagging, photo signatures.</a:t>
            </a:r>
            <a:endParaRPr lang="en-US" sz="9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639791" y="3629471"/>
            <a:ext cx="310083" cy="31008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639791" y="4075212"/>
            <a:ext cx="400809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Live Tracking &amp; Payments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4639791" y="4334173"/>
            <a:ext cx="4008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GPS ETAs, escrow-style payouts tied to delivery scans and automated invoicing.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Optimization details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68302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3D bin-packing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20181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Computes an orientation-aware arrangement of individual boxes inside a truck         volume to maximise utilisation while respecting weight distribution and fragile flags.       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734940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Reverse sequencing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886819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Produces a loading order where last-stop boxes are placed for immediate access, preventing mid-route rehandling and saving driver time at stops.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213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Scanning &amp; chain-of-custody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119783"/>
            <a:ext cx="3492922" cy="34929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12593" y="1912293"/>
            <a:ext cx="433997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Every box receives a unique QR at job creation. Scans occur at:       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312593" y="2422401"/>
            <a:ext cx="4339977" cy="887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Loading — validates against digital manifest in real time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 transit — optional door-sensor and tamper detection alerts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Delivery — recipient confirmation with digital signature and photo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312593" y="3418433"/>
            <a:ext cx="4339977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Result: immutable, timestamped audit trail for dispute resolution, insurance claims and automated payment release.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Marketplace &amp; matching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401491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For non-owned fleets, CargoSync surfaces nearby trucks based on:       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4665911" y="2523902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Real-time GPS proximity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Capacity and dimensional fit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Trucker rating and verification status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849761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Truckers receive a load preview (volume, weight, route, payout, handling flags) and accept offers; scoring balances efficiency with fairness.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6025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Operations &amp; driver experience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386757"/>
            <a:ext cx="877193" cy="10964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0491" y="2386757"/>
            <a:ext cx="2932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Driver app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550491" y="2693268"/>
            <a:ext cx="2932881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Step-by-step loading map, scan history, route sheet and proof-of-delivery capture.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0553" y="2386757"/>
            <a:ext cx="877193" cy="10964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4926" y="2386757"/>
            <a:ext cx="293295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Exportable outputs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714926" y="2693268"/>
            <a:ext cx="2932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Visual load maps, PDF route sheets and manifests for easy compliance and handover.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94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Analytics &amp; business impact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14463"/>
            <a:ext cx="4327773" cy="29701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74531" y="1382539"/>
            <a:ext cx="3478039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        Dashboard metrics include capacity utilisation, on-time delivery rate,         dispute volumes and cost-saving projections. Data exports support finance,         ops and carrier performance reviews.       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174531" y="2676079"/>
            <a:ext cx="3478039" cy="1006376"/>
          </a:xfrm>
          <a:prstGeom prst="roundRect">
            <a:avLst>
              <a:gd name="adj" fmla="val 568"/>
            </a:avLst>
          </a:prstGeom>
          <a:solidFill>
            <a:srgbClr val="E4E6E7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89" y="2886373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35228" y="2839045"/>
            <a:ext cx="287558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These KPI improvements reflect typical outcomes from optimised packing, sequencing and verified delivery flows.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42466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Next steps &amp; rollout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0980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1319957"/>
            <a:ext cx="2290465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428899"/>
            <a:ext cx="22904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1 — Pilot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6119" y="1735410"/>
            <a:ext cx="229046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Onboard pilot shippers and 10–20 trucks; validate optimisation and scanning in live routes.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928342" y="1098054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8342" y="1319957"/>
            <a:ext cx="2290539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0" name="Text 7"/>
          <p:cNvSpPr/>
          <p:nvPr/>
        </p:nvSpPr>
        <p:spPr>
          <a:xfrm>
            <a:off x="2928342" y="1428899"/>
            <a:ext cx="22905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2 — Scale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28342" y="1735410"/>
            <a:ext cx="2290539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Integrate with TMS/WMS, expand marketplace, enable billing and escrow workflows.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96119" y="2663875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96119" y="2885777"/>
            <a:ext cx="4722763" cy="19050"/>
          </a:xfrm>
          <a:prstGeom prst="rect">
            <a:avLst/>
          </a:prstGeom>
          <a:solidFill>
            <a:srgbClr val="151617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2994720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Phase 3 — Optimise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96119" y="330123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Refine matching score, introduce predictive ETAs and advanced analytics for continuous gains.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6119" y="4020592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51617"/>
                </a:solidFill>
                <a:latin typeface="Inconsolata" pitchFamily="34" charset="0"/>
                <a:ea typeface="Inconsolata" pitchFamily="34" charset="-122"/>
                <a:cs typeface="Inconsolata" pitchFamily="34" charset="-120"/>
              </a:rPr>
              <a:t> Project leads: Farhad Shihab Yaseen, Dharvesh Ahamed. For a technical deep-dive or pilot proposal, contact the product team to schedule a demo.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2026-07-29T04:33:45Z</dcterms:created>
  <dcterms:modified xsi:type="dcterms:W3CDTF">2026-07-29T04:33:45Z</dcterms:modified>
</cp:coreProperties>
</file>