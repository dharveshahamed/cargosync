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embeddedFontLst>
    <p:embeddedFont>
      <p:font typeface="Montserrat Thin"/>
      <p:regular r:id="rId201314"/>
    </p:embeddedFont>
    <p:embeddedFont>
      <p:font typeface="Montserrat"/>
      <p:regular r:id="rId201315"/>
    </p:embeddedFont>
    <p:embeddedFont>
      <p:font typeface="Montserrat SemiBold"/>
      <p:regular r:id="rId201316"/>
    </p:embeddedFont>
    <p:embeddedFont>
      <p:font typeface="Montserrat Bold"/>
      <p:regular r:id="rId201317"/>
    </p:embeddedFont>
    <p:embeddedFont>
      <p:font typeface="Montserrat Black"/>
      <p:regular r:id="rId201318"/>
    </p:embeddedFont>
    <p:embeddedFont>
      <p:font typeface="Montserrat Light"/>
      <p:regular r:id="rId201319"/>
    </p:embeddedFont>
    <p:embeddedFont>
      <p:font typeface="Montserrat ExtraLight"/>
      <p:regular r:id="rId201320"/>
    </p:embeddedFont>
    <p:embeddedFont>
      <p:font typeface="Montserrat Medium"/>
      <p:regular r:id="rId201321"/>
    </p:embeddedFont>
    <p:embeddedFont>
      <p:font typeface="Montserrat ExtraBold"/>
      <p:regular r:id="rId201322"/>
    </p:embeddedFont>
    <p:embeddedFont>
      <p:font typeface="Unbounded ExtraLight"/>
      <p:regular r:id="rId201323"/>
    </p:embeddedFont>
    <p:embeddedFont>
      <p:font typeface="Unbounded Light"/>
      <p:regular r:id="rId201324"/>
    </p:embeddedFont>
    <p:embeddedFont>
      <p:font typeface="Unbounded"/>
      <p:regular r:id="rId201325"/>
    </p:embeddedFont>
    <p:embeddedFont>
      <p:font typeface="Unbounded Bold"/>
      <p:regular r:id="rId201326"/>
    </p:embeddedFont>
    <p:embeddedFont>
      <p:font typeface="Unbounded ExtraBold"/>
      <p:regular r:id="rId201327"/>
    </p:embeddedFont>
    <p:embeddedFont>
      <p:font typeface="Unbounded Black"/>
      <p:regular r:id="rId201328"/>
    </p:embeddedFont>
    <p:embeddedFont>
      <p:font typeface="Unbounded Medium"/>
      <p:regular r:id="rId201329"/>
    </p:embeddedFont>
    <p:embeddedFont>
      <p:font typeface="Unbounded SemiBold"/>
      <p:regular r:id="rId2013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ECE4"/>
          </a:solidFill>
          <a:ln/>
        </p:spPr>
      </p:sp>
      <p:sp>
        <p:nvSpPr>
          <p:cNvPr id="3" name="Shape 1"/>
          <p:cNvSpPr/>
          <p:nvPr/>
        </p:nvSpPr>
        <p:spPr>
          <a:xfrm>
            <a:off x="0" y="0"/>
            <a:ext cx="9144000" cy="51435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jpe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120527"/>
            <a:ext cx="4722763" cy="132896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CargoSync — SRS: Introduction &amp; Overview</a:t>
            </a:r>
            <a:endParaRPr lang="en-US" sz="2750" dirty="0"/>
          </a:p>
        </p:txBody>
      </p:sp>
      <p:sp>
        <p:nvSpPr>
          <p:cNvPr id="4" name="Text 1"/>
          <p:cNvSpPr/>
          <p:nvPr/>
        </p:nvSpPr>
        <p:spPr>
          <a:xfrm>
            <a:off x="3925119" y="2662089"/>
            <a:ext cx="4722763"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Cloud-native logistics and fleet orchestration platform that connects shippers with nearby carriers and automates load planning, routing, and chain‑of‑custody verification. This SRS covers the system objectives, problem context, and high‑level feasibility for an enterprise‑grade marketplace and optimisation engine.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40159"/>
            <a:ext cx="8151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Problem Statement: Core Operational Frictions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609651"/>
            <a:ext cx="354360" cy="354360"/>
          </a:xfrm>
          <a:prstGeom prst="rect">
            <a:avLst/>
          </a:prstGeom>
        </p:spPr>
      </p:pic>
      <p:sp>
        <p:nvSpPr>
          <p:cNvPr id="4" name="Text 1"/>
          <p:cNvSpPr/>
          <p:nvPr/>
        </p:nvSpPr>
        <p:spPr>
          <a:xfrm>
            <a:off x="496119" y="2141190"/>
            <a:ext cx="3987254"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Wasted payload capacity</a:t>
            </a:r>
            <a:endParaRPr lang="en-US" sz="1350" dirty="0"/>
          </a:p>
        </p:txBody>
      </p:sp>
      <p:sp>
        <p:nvSpPr>
          <p:cNvPr id="5" name="Text 2"/>
          <p:cNvSpPr/>
          <p:nvPr/>
        </p:nvSpPr>
        <p:spPr>
          <a:xfrm>
            <a:off x="496119" y="2447702"/>
            <a:ext cx="3987254"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Manual load planning yields inefficient 3D packing and under‑utilised volumetric capacity.</a:t>
            </a:r>
            <a:endParaRPr lang="en-US" sz="11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0553" y="1609651"/>
            <a:ext cx="354360" cy="354360"/>
          </a:xfrm>
          <a:prstGeom prst="rect">
            <a:avLst/>
          </a:prstGeom>
        </p:spPr>
      </p:pic>
      <p:sp>
        <p:nvSpPr>
          <p:cNvPr id="7" name="Text 3"/>
          <p:cNvSpPr/>
          <p:nvPr/>
        </p:nvSpPr>
        <p:spPr>
          <a:xfrm>
            <a:off x="4660553" y="2141190"/>
            <a:ext cx="3987329"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Inefficient loading sequences</a:t>
            </a:r>
            <a:endParaRPr lang="en-US" sz="1350" dirty="0"/>
          </a:p>
        </p:txBody>
      </p:sp>
      <p:sp>
        <p:nvSpPr>
          <p:cNvPr id="8" name="Text 4"/>
          <p:cNvSpPr/>
          <p:nvPr/>
        </p:nvSpPr>
        <p:spPr>
          <a:xfrm>
            <a:off x="4660553" y="2447702"/>
            <a:ext cx="3987329"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Cargo loaded without drop‑order awareness forces in‑route rehandling and delays.</a:t>
            </a:r>
            <a:endParaRPr lang="en-US" sz="11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184847"/>
            <a:ext cx="354360" cy="354360"/>
          </a:xfrm>
          <a:prstGeom prst="rect">
            <a:avLst/>
          </a:prstGeom>
        </p:spPr>
      </p:pic>
      <p:sp>
        <p:nvSpPr>
          <p:cNvPr id="10" name="Text 5"/>
          <p:cNvSpPr/>
          <p:nvPr/>
        </p:nvSpPr>
        <p:spPr>
          <a:xfrm>
            <a:off x="496119" y="3716387"/>
            <a:ext cx="3987254"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Fragmented capacity sourcing</a:t>
            </a:r>
            <a:endParaRPr lang="en-US" sz="1350" dirty="0"/>
          </a:p>
        </p:txBody>
      </p:sp>
      <p:sp>
        <p:nvSpPr>
          <p:cNvPr id="11" name="Text 6"/>
          <p:cNvSpPr/>
          <p:nvPr/>
        </p:nvSpPr>
        <p:spPr>
          <a:xfrm>
            <a:off x="496119" y="4022899"/>
            <a:ext cx="3987254"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SMBs cannot reliably find nearby, vetted carriers that match volume and weight requirements.</a:t>
            </a:r>
            <a:endParaRPr lang="en-US" sz="11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60553" y="3184847"/>
            <a:ext cx="354360" cy="354360"/>
          </a:xfrm>
          <a:prstGeom prst="rect">
            <a:avLst/>
          </a:prstGeom>
        </p:spPr>
      </p:pic>
      <p:sp>
        <p:nvSpPr>
          <p:cNvPr id="13" name="Text 7"/>
          <p:cNvSpPr/>
          <p:nvPr/>
        </p:nvSpPr>
        <p:spPr>
          <a:xfrm>
            <a:off x="4660553" y="3716387"/>
            <a:ext cx="3987329"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Unreliable chain of custody</a:t>
            </a:r>
            <a:endParaRPr lang="en-US" sz="1350" dirty="0"/>
          </a:p>
        </p:txBody>
      </p:sp>
      <p:sp>
        <p:nvSpPr>
          <p:cNvPr id="14" name="Text 8"/>
          <p:cNvSpPr/>
          <p:nvPr/>
        </p:nvSpPr>
        <p:spPr>
          <a:xfrm>
            <a:off x="4660553" y="4022899"/>
            <a:ext cx="3987329"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Paper manifests and manual handoffs increase disputes, tampering risk, and delayed payouts.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228576"/>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Scope — What CargoSync Will Do</a:t>
            </a:r>
            <a:endParaRPr lang="en-US" sz="2750" dirty="0"/>
          </a:p>
        </p:txBody>
      </p:sp>
      <p:sp>
        <p:nvSpPr>
          <p:cNvPr id="4" name="Text 1"/>
          <p:cNvSpPr/>
          <p:nvPr/>
        </p:nvSpPr>
        <p:spPr>
          <a:xfrm>
            <a:off x="496119" y="2327151"/>
            <a:ext cx="4722763" cy="158769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Unified platform combining: user registration (shippers &amp; truckers), granular job posting with box‑level attributes, automated 3D bin‑packing, reverse‑sequence route optimisation, proximity‑based marketplace matcher, mobile QR scanning for chain‑of‑custody, and automated payment and dispute workflows.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30808"/>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Objectives (Functional Goals)</a:t>
            </a:r>
            <a:endParaRPr lang="en-US" sz="2750" dirty="0"/>
          </a:p>
        </p:txBody>
      </p:sp>
      <p:sp>
        <p:nvSpPr>
          <p:cNvPr id="3" name="Shape 1"/>
          <p:cNvSpPr/>
          <p:nvPr/>
        </p:nvSpPr>
        <p:spPr>
          <a:xfrm>
            <a:off x="496119" y="1357313"/>
            <a:ext cx="2622724" cy="1960438"/>
          </a:xfrm>
          <a:prstGeom prst="roundRect">
            <a:avLst>
              <a:gd name="adj" fmla="val 292"/>
            </a:avLst>
          </a:prstGeom>
          <a:solidFill>
            <a:srgbClr val="F8ECE4"/>
          </a:solidFill>
          <a:ln w="4763">
            <a:solidFill>
              <a:srgbClr val="151617"/>
            </a:solidFill>
            <a:prstDash val="solid"/>
          </a:ln>
          <a:effectLst>
            <a:outerShdw sx="100000" sy="100000" kx="0" ky="0" algn="bl" rotWithShape="0" blurRad="101600" dist="17780" dir="2700000">
              <a:srgbClr val="151617">
                <a:alpha val="100000"/>
              </a:srgbClr>
            </a:outerShdw>
          </a:effectLst>
        </p:spPr>
      </p:sp>
      <p:sp>
        <p:nvSpPr>
          <p:cNvPr id="4" name="Text 2"/>
          <p:cNvSpPr/>
          <p:nvPr/>
        </p:nvSpPr>
        <p:spPr>
          <a:xfrm>
            <a:off x="642640" y="1503834"/>
            <a:ext cx="2329681"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3D load automation</a:t>
            </a:r>
            <a:endParaRPr lang="en-US" sz="1350" dirty="0"/>
          </a:p>
        </p:txBody>
      </p:sp>
      <p:sp>
        <p:nvSpPr>
          <p:cNvPr id="5" name="Text 3"/>
          <p:cNvSpPr/>
          <p:nvPr/>
        </p:nvSpPr>
        <p:spPr>
          <a:xfrm>
            <a:off x="642640" y="1810345"/>
            <a:ext cx="2329681"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Compute optimal spatial arrangements using 3D bin‑packing to maximise utilisation and respect weight/stacking constraints.</a:t>
            </a:r>
            <a:endParaRPr lang="en-US" sz="1100" dirty="0"/>
          </a:p>
        </p:txBody>
      </p:sp>
      <p:sp>
        <p:nvSpPr>
          <p:cNvPr id="6" name="Shape 4"/>
          <p:cNvSpPr/>
          <p:nvPr/>
        </p:nvSpPr>
        <p:spPr>
          <a:xfrm>
            <a:off x="3260601" y="1357313"/>
            <a:ext cx="2622724" cy="1960438"/>
          </a:xfrm>
          <a:prstGeom prst="roundRect">
            <a:avLst>
              <a:gd name="adj" fmla="val 292"/>
            </a:avLst>
          </a:prstGeom>
          <a:solidFill>
            <a:srgbClr val="F8ECE4"/>
          </a:solidFill>
          <a:ln w="4763">
            <a:solidFill>
              <a:srgbClr val="151617"/>
            </a:solidFill>
            <a:prstDash val="solid"/>
          </a:ln>
          <a:effectLst>
            <a:outerShdw sx="100000" sy="100000" kx="0" ky="0" algn="bl" rotWithShape="0" blurRad="101600" dist="17780" dir="2700000">
              <a:srgbClr val="151617">
                <a:alpha val="100000"/>
              </a:srgbClr>
            </a:outerShdw>
          </a:effectLst>
        </p:spPr>
      </p:sp>
      <p:sp>
        <p:nvSpPr>
          <p:cNvPr id="7" name="Text 5"/>
          <p:cNvSpPr/>
          <p:nvPr/>
        </p:nvSpPr>
        <p:spPr>
          <a:xfrm>
            <a:off x="3407122" y="1503834"/>
            <a:ext cx="2329681"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Reverse delivery sequencing</a:t>
            </a:r>
            <a:endParaRPr lang="en-US" sz="1350" dirty="0"/>
          </a:p>
        </p:txBody>
      </p:sp>
      <p:sp>
        <p:nvSpPr>
          <p:cNvPr id="8" name="Text 6"/>
          <p:cNvSpPr/>
          <p:nvPr/>
        </p:nvSpPr>
        <p:spPr>
          <a:xfrm>
            <a:off x="3407122" y="2031802"/>
            <a:ext cx="2329681"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Derive load order that minimises mid‑route rehandling by placing last stops accessible first in the load plan.</a:t>
            </a:r>
            <a:endParaRPr lang="en-US" sz="1100" dirty="0"/>
          </a:p>
        </p:txBody>
      </p:sp>
      <p:sp>
        <p:nvSpPr>
          <p:cNvPr id="9" name="Shape 7"/>
          <p:cNvSpPr/>
          <p:nvPr/>
        </p:nvSpPr>
        <p:spPr>
          <a:xfrm>
            <a:off x="6025083" y="1357313"/>
            <a:ext cx="2622724" cy="1960438"/>
          </a:xfrm>
          <a:prstGeom prst="roundRect">
            <a:avLst>
              <a:gd name="adj" fmla="val 292"/>
            </a:avLst>
          </a:prstGeom>
          <a:solidFill>
            <a:srgbClr val="F8ECE4"/>
          </a:solidFill>
          <a:ln w="4763">
            <a:solidFill>
              <a:srgbClr val="151617"/>
            </a:solidFill>
            <a:prstDash val="solid"/>
          </a:ln>
          <a:effectLst>
            <a:outerShdw sx="100000" sy="100000" kx="0" ky="0" algn="bl" rotWithShape="0" blurRad="101600" dist="17780" dir="2700000">
              <a:srgbClr val="151617">
                <a:alpha val="100000"/>
              </a:srgbClr>
            </a:outerShdw>
          </a:effectLst>
        </p:spPr>
      </p:sp>
      <p:sp>
        <p:nvSpPr>
          <p:cNvPr id="10" name="Text 8"/>
          <p:cNvSpPr/>
          <p:nvPr/>
        </p:nvSpPr>
        <p:spPr>
          <a:xfrm>
            <a:off x="6171605" y="1503834"/>
            <a:ext cx="2329681"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Proximity marketplace</a:t>
            </a:r>
            <a:endParaRPr lang="en-US" sz="1350" dirty="0"/>
          </a:p>
        </p:txBody>
      </p:sp>
      <p:sp>
        <p:nvSpPr>
          <p:cNvPr id="11" name="Text 9"/>
          <p:cNvSpPr/>
          <p:nvPr/>
        </p:nvSpPr>
        <p:spPr>
          <a:xfrm>
            <a:off x="6171605" y="1810345"/>
            <a:ext cx="2329681"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Match demand to nearby, rated carriers using volume, weight, availability and SLA filters.</a:t>
            </a:r>
            <a:endParaRPr lang="en-US" sz="1100" dirty="0"/>
          </a:p>
        </p:txBody>
      </p:sp>
      <p:sp>
        <p:nvSpPr>
          <p:cNvPr id="12" name="Shape 10"/>
          <p:cNvSpPr/>
          <p:nvPr/>
        </p:nvSpPr>
        <p:spPr>
          <a:xfrm>
            <a:off x="496119" y="3459510"/>
            <a:ext cx="8151688" cy="1053182"/>
          </a:xfrm>
          <a:prstGeom prst="roundRect">
            <a:avLst>
              <a:gd name="adj" fmla="val 543"/>
            </a:avLst>
          </a:prstGeom>
          <a:solidFill>
            <a:srgbClr val="F8ECE4"/>
          </a:solidFill>
          <a:ln w="4763">
            <a:solidFill>
              <a:srgbClr val="151617"/>
            </a:solidFill>
            <a:prstDash val="solid"/>
          </a:ln>
          <a:effectLst>
            <a:outerShdw sx="100000" sy="100000" kx="0" ky="0" algn="bl" rotWithShape="0" blurRad="101600" dist="17780" dir="2700000">
              <a:srgbClr val="151617">
                <a:alpha val="100000"/>
              </a:srgbClr>
            </a:outerShdw>
          </a:effectLst>
        </p:spPr>
      </p:sp>
      <p:sp>
        <p:nvSpPr>
          <p:cNvPr id="13" name="Text 11"/>
          <p:cNvSpPr/>
          <p:nvPr/>
        </p:nvSpPr>
        <p:spPr>
          <a:xfrm>
            <a:off x="642640" y="3606031"/>
            <a:ext cx="7858646"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QR-driven custody</a:t>
            </a:r>
            <a:endParaRPr lang="en-US" sz="1350" dirty="0"/>
          </a:p>
        </p:txBody>
      </p:sp>
      <p:sp>
        <p:nvSpPr>
          <p:cNvPr id="14" name="Text 12"/>
          <p:cNvSpPr/>
          <p:nvPr/>
        </p:nvSpPr>
        <p:spPr>
          <a:xfrm>
            <a:off x="642640" y="3912543"/>
            <a:ext cx="7858646"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Immutable, timestamped handoffs via mobile QR scans and audit trail for dispute resolution and automated payout triggers.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5213"/>
            <a:ext cx="8151763" cy="408384"/>
          </a:xfrm>
          <a:prstGeom prst="rect">
            <a:avLst/>
          </a:prstGeom>
          <a:noFill/>
          <a:ln/>
        </p:spPr>
        <p:txBody>
          <a:bodyPr wrap="none" lIns="0" tIns="0" rIns="0" bIns="0" rtlCol="0" anchor="t"/>
          <a:lstStyle/>
          <a:p>
            <a:pPr algn="l" indent="0" marL="0">
              <a:lnSpc>
                <a:spcPct val="104000"/>
              </a:lnSpc>
              <a:buNone/>
            </a:pPr>
            <a:r>
              <a:rPr lang="en-US" sz="2550" dirty="0">
                <a:solidFill>
                  <a:srgbClr val="151617"/>
                </a:solidFill>
                <a:latin typeface="Montserrat Black" pitchFamily="34" charset="0"/>
                <a:ea typeface="Montserrat Black" pitchFamily="34" charset="-122"/>
                <a:cs typeface="Montserrat Black" pitchFamily="34" charset="-120"/>
              </a:rPr>
              <a:t>Existing System &amp; Key Limitations</a:t>
            </a:r>
            <a:endParaRPr lang="en-US" sz="2550" dirty="0"/>
          </a:p>
        </p:txBody>
      </p:sp>
      <p:pic>
        <p:nvPicPr>
          <p:cNvPr id="3" name="Image 0" descr="preencoded.png">    </p:cNvPr>
          <p:cNvPicPr>
            <a:picLocks noChangeAspect="1"/>
          </p:cNvPicPr>
          <p:nvPr/>
        </p:nvPicPr>
        <p:blipFill>
          <a:blip r:embed="rId1"/>
          <a:stretch>
            <a:fillRect/>
          </a:stretch>
        </p:blipFill>
        <p:spPr>
          <a:xfrm>
            <a:off x="496119" y="1119783"/>
            <a:ext cx="3492922" cy="3492922"/>
          </a:xfrm>
          <a:prstGeom prst="rect">
            <a:avLst/>
          </a:prstGeom>
        </p:spPr>
      </p:pic>
      <p:sp>
        <p:nvSpPr>
          <p:cNvPr id="4" name="Text 1"/>
          <p:cNvSpPr/>
          <p:nvPr/>
        </p:nvSpPr>
        <p:spPr>
          <a:xfrm>
            <a:off x="4312593" y="1978596"/>
            <a:ext cx="4339977"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151617"/>
                </a:solidFill>
                <a:latin typeface="Unbounded" pitchFamily="34" charset="0"/>
                <a:ea typeface="Unbounded" pitchFamily="34" charset="-122"/>
                <a:cs typeface="Unbounded" pitchFamily="34" charset="-120"/>
              </a:rPr>
              <a:t>Current processes rely on phone brokers, spreadsheets and visual estimation. This creates:</a:t>
            </a:r>
            <a:endParaRPr lang="en-US" sz="1000" dirty="0"/>
          </a:p>
        </p:txBody>
      </p:sp>
      <p:sp>
        <p:nvSpPr>
          <p:cNvPr id="5" name="Text 2"/>
          <p:cNvSpPr/>
          <p:nvPr/>
        </p:nvSpPr>
        <p:spPr>
          <a:xfrm>
            <a:off x="4312593" y="2488704"/>
            <a:ext cx="4339977" cy="1331416"/>
          </a:xfrm>
          <a:prstGeom prst="rect">
            <a:avLst/>
          </a:prstGeom>
          <a:noFill/>
          <a:ln/>
        </p:spPr>
        <p:txBody>
          <a:bodyPr wrap="square" lIns="0" tIns="0" rIns="0" bIns="0" rtlCol="0" anchor="t">
            <a:normAutofit/>
          </a:bodyPr>
          <a:lstStyle/>
          <a:p>
            <a:pPr algn="l" marL="203200" indent="-203200">
              <a:lnSpc>
                <a:spcPct val="128000"/>
              </a:lnSpc>
              <a:buSzPct val="100000"/>
              <a:buChar char="•"/>
            </a:pPr>
            <a:r>
              <a:rPr lang="en-US" sz="1000" dirty="0">
                <a:solidFill>
                  <a:srgbClr val="151617"/>
                </a:solidFill>
                <a:latin typeface="Unbounded" pitchFamily="34" charset="0"/>
                <a:ea typeface="Unbounded" pitchFamily="34" charset="-122"/>
                <a:cs typeface="Unbounded" pitchFamily="34" charset="-120"/>
              </a:rPr>
              <a:t>High volumetric volatility and under‑utilisation.</a:t>
            </a:r>
            <a:endParaRPr lang="en-US" sz="1000" dirty="0"/>
          </a:p>
          <a:p>
            <a:pPr algn="l" marL="203200" indent="-203200">
              <a:lnSpc>
                <a:spcPct val="128000"/>
              </a:lnSpc>
              <a:buSzPct val="100000"/>
              <a:buChar char="•"/>
            </a:pPr>
            <a:r>
              <a:rPr lang="en-US" sz="1000" dirty="0">
                <a:solidFill>
                  <a:srgbClr val="151617"/>
                </a:solidFill>
                <a:latin typeface="Unbounded" pitchFamily="34" charset="0"/>
                <a:ea typeface="Unbounded" pitchFamily="34" charset="-122"/>
                <a:cs typeface="Unbounded" pitchFamily="34" charset="-120"/>
              </a:rPr>
              <a:t>Route friction and longer dwell times at stops.</a:t>
            </a:r>
            <a:endParaRPr lang="en-US" sz="1000" dirty="0"/>
          </a:p>
          <a:p>
            <a:pPr algn="l" marL="203200" indent="-203200">
              <a:lnSpc>
                <a:spcPct val="128000"/>
              </a:lnSpc>
              <a:buSzPct val="100000"/>
              <a:buChar char="•"/>
            </a:pPr>
            <a:r>
              <a:rPr lang="en-US" sz="1000" dirty="0">
                <a:solidFill>
                  <a:srgbClr val="151617"/>
                </a:solidFill>
                <a:latin typeface="Unbounded" pitchFamily="34" charset="0"/>
                <a:ea typeface="Unbounded" pitchFamily="34" charset="-122"/>
                <a:cs typeface="Unbounded" pitchFamily="34" charset="-120"/>
              </a:rPr>
              <a:t>Lack of real‑time visibility — frequent manual check‑calls.</a:t>
            </a:r>
            <a:endParaRPr lang="en-US" sz="1000" dirty="0"/>
          </a:p>
          <a:p>
            <a:pPr algn="l" marL="203200" indent="-203200">
              <a:lnSpc>
                <a:spcPct val="128000"/>
              </a:lnSpc>
              <a:buSzPct val="100000"/>
              <a:buChar char="•"/>
            </a:pPr>
            <a:r>
              <a:rPr lang="en-US" sz="1000" dirty="0">
                <a:solidFill>
                  <a:srgbClr val="151617"/>
                </a:solidFill>
                <a:latin typeface="Unbounded" pitchFamily="34" charset="0"/>
                <a:ea typeface="Unbounded" pitchFamily="34" charset="-122"/>
                <a:cs typeface="Unbounded" pitchFamily="34" charset="-120"/>
              </a:rPr>
              <a:t>Frequent dispute claims due to unverifiable handoffs.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233934"/>
            <a:ext cx="4722763" cy="132896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Proposed System Architecture (High Level)</a:t>
            </a:r>
            <a:endParaRPr lang="en-US" sz="2750" dirty="0"/>
          </a:p>
        </p:txBody>
      </p:sp>
      <p:sp>
        <p:nvSpPr>
          <p:cNvPr id="4" name="Text 1"/>
          <p:cNvSpPr/>
          <p:nvPr/>
        </p:nvSpPr>
        <p:spPr>
          <a:xfrm>
            <a:off x="496119" y="2775496"/>
            <a:ext cx="472276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Modular cloud services: API gateway → Matchmaking &amp; Marketplace → 3D packing engine → Routing &amp; sequencing service → Mobile clients (drivers, recipients) → Audit ledger &amp; payments. Each interaction is evented for traceability and horizontal scalability.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784473"/>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How It Works — Key Workflows</a:t>
            </a:r>
            <a:endParaRPr lang="en-US" sz="2750" dirty="0"/>
          </a:p>
        </p:txBody>
      </p:sp>
      <p:pic>
        <p:nvPicPr>
          <p:cNvPr id="3" name="Image 0" descr="preencoded.png">    </p:cNvPr>
          <p:cNvPicPr>
            <a:picLocks noChangeAspect="1"/>
          </p:cNvPicPr>
          <p:nvPr/>
        </p:nvPicPr>
        <p:blipFill>
          <a:blip r:embed="rId1"/>
          <a:stretch>
            <a:fillRect/>
          </a:stretch>
        </p:blipFill>
        <p:spPr>
          <a:xfrm>
            <a:off x="496119" y="1510978"/>
            <a:ext cx="8151763" cy="2234878"/>
          </a:xfrm>
          <a:prstGeom prst="rect">
            <a:avLst/>
          </a:prstGeom>
        </p:spPr>
      </p:pic>
      <p:sp>
        <p:nvSpPr>
          <p:cNvPr id="4" name="Text 1"/>
          <p:cNvSpPr/>
          <p:nvPr/>
        </p:nvSpPr>
        <p:spPr>
          <a:xfrm>
            <a:off x="1478791" y="2318555"/>
            <a:ext cx="1231850" cy="220564"/>
          </a:xfrm>
          <a:prstGeom prst="rect">
            <a:avLst/>
          </a:prstGeom>
          <a:noFill/>
          <a:ln/>
        </p:spPr>
        <p:txBody>
          <a:bodyPr wrap="none" lIns="0" tIns="0" rIns="0" bIns="0" rtlCol="0" anchor="t"/>
          <a:lstStyle/>
          <a:p>
            <a:pPr algn="ctr"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Post Job</a:t>
            </a:r>
            <a:endParaRPr lang="en-US" sz="1350" dirty="0"/>
          </a:p>
        </p:txBody>
      </p:sp>
      <p:sp>
        <p:nvSpPr>
          <p:cNvPr id="5" name="Text 2"/>
          <p:cNvSpPr/>
          <p:nvPr/>
        </p:nvSpPr>
        <p:spPr>
          <a:xfrm>
            <a:off x="1478791" y="2601857"/>
            <a:ext cx="1231850" cy="529353"/>
          </a:xfrm>
          <a:prstGeom prst="rect">
            <a:avLst/>
          </a:prstGeom>
          <a:noFill/>
          <a:ln/>
        </p:spPr>
        <p:txBody>
          <a:bodyPr wrap="square" lIns="0" tIns="0" rIns="0" bIns="0" rtlCol="0" anchor="t">
            <a:normAutofit/>
          </a:bodyPr>
          <a:lstStyle/>
          <a:p>
            <a:pPr algn="ctr" indent="0" marL="0">
              <a:lnSpc>
                <a:spcPct val="104000"/>
              </a:lnSpc>
              <a:buNone/>
            </a:pPr>
            <a:r>
              <a:rPr lang="en-US" sz="1100" dirty="0">
                <a:solidFill>
                  <a:srgbClr val="151617"/>
                </a:solidFill>
                <a:latin typeface="Unbounded" pitchFamily="34" charset="0"/>
                <a:ea typeface="Unbounded" pitchFamily="34" charset="-122"/>
                <a:cs typeface="Unbounded" pitchFamily="34" charset="-120"/>
              </a:rPr>
              <a:t>Shipper creates box-level job</a:t>
            </a:r>
            <a:endParaRPr lang="en-US" sz="1100" dirty="0"/>
          </a:p>
        </p:txBody>
      </p:sp>
      <p:sp>
        <p:nvSpPr>
          <p:cNvPr id="6" name="Text 3"/>
          <p:cNvSpPr/>
          <p:nvPr/>
        </p:nvSpPr>
        <p:spPr>
          <a:xfrm>
            <a:off x="3141353" y="1806846"/>
            <a:ext cx="1231850" cy="441128"/>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Compute Load</a:t>
            </a:r>
            <a:endParaRPr lang="en-US" sz="1350" dirty="0"/>
          </a:p>
        </p:txBody>
      </p:sp>
      <p:sp>
        <p:nvSpPr>
          <p:cNvPr id="7" name="Text 4"/>
          <p:cNvSpPr/>
          <p:nvPr/>
        </p:nvSpPr>
        <p:spPr>
          <a:xfrm>
            <a:off x="3141353" y="2310712"/>
            <a:ext cx="1231850" cy="705805"/>
          </a:xfrm>
          <a:prstGeom prst="rect">
            <a:avLst/>
          </a:prstGeom>
          <a:noFill/>
          <a:ln/>
        </p:spPr>
        <p:txBody>
          <a:bodyPr wrap="square" lIns="0" tIns="0" rIns="0" bIns="0" rtlCol="0" anchor="t">
            <a:normAutofit/>
          </a:bodyPr>
          <a:lstStyle/>
          <a:p>
            <a:pPr algn="ctr" indent="0" marL="0">
              <a:lnSpc>
                <a:spcPct val="104000"/>
              </a:lnSpc>
              <a:buNone/>
            </a:pPr>
            <a:r>
              <a:rPr lang="en-US" sz="1100" dirty="0">
                <a:solidFill>
                  <a:srgbClr val="151617"/>
                </a:solidFill>
                <a:latin typeface="Unbounded" pitchFamily="34" charset="0"/>
                <a:ea typeface="Unbounded" pitchFamily="34" charset="-122"/>
                <a:cs typeface="Unbounded" pitchFamily="34" charset="-120"/>
              </a:rPr>
              <a:t>System plans 3D load &amp; suggests carriers</a:t>
            </a:r>
            <a:endParaRPr lang="en-US" sz="1100" dirty="0"/>
          </a:p>
        </p:txBody>
      </p:sp>
      <p:sp>
        <p:nvSpPr>
          <p:cNvPr id="8" name="Text 5"/>
          <p:cNvSpPr/>
          <p:nvPr/>
        </p:nvSpPr>
        <p:spPr>
          <a:xfrm>
            <a:off x="4835284" y="2318555"/>
            <a:ext cx="1231850" cy="220564"/>
          </a:xfrm>
          <a:prstGeom prst="rect">
            <a:avLst/>
          </a:prstGeom>
          <a:noFill/>
          <a:ln/>
        </p:spPr>
        <p:txBody>
          <a:bodyPr wrap="none" lIns="0" tIns="0" rIns="0" bIns="0" rtlCol="0" anchor="t"/>
          <a:lstStyle/>
          <a:p>
            <a:pPr algn="ctr"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Driver Scans</a:t>
            </a:r>
            <a:endParaRPr lang="en-US" sz="1350" dirty="0"/>
          </a:p>
        </p:txBody>
      </p:sp>
      <p:sp>
        <p:nvSpPr>
          <p:cNvPr id="9" name="Text 6"/>
          <p:cNvSpPr/>
          <p:nvPr/>
        </p:nvSpPr>
        <p:spPr>
          <a:xfrm>
            <a:off x="4835284" y="2601857"/>
            <a:ext cx="1231850" cy="529353"/>
          </a:xfrm>
          <a:prstGeom prst="rect">
            <a:avLst/>
          </a:prstGeom>
          <a:noFill/>
          <a:ln/>
        </p:spPr>
        <p:txBody>
          <a:bodyPr wrap="square" lIns="0" tIns="0" rIns="0" bIns="0" rtlCol="0" anchor="t">
            <a:normAutofit/>
          </a:bodyPr>
          <a:lstStyle/>
          <a:p>
            <a:pPr algn="ctr" indent="0" marL="0">
              <a:lnSpc>
                <a:spcPct val="104000"/>
              </a:lnSpc>
              <a:buNone/>
            </a:pPr>
            <a:r>
              <a:rPr lang="en-US" sz="1100" dirty="0">
                <a:solidFill>
                  <a:srgbClr val="151617"/>
                </a:solidFill>
                <a:latin typeface="Unbounded" pitchFamily="34" charset="0"/>
                <a:ea typeface="Unbounded" pitchFamily="34" charset="-122"/>
                <a:cs typeface="Unbounded" pitchFamily="34" charset="-120"/>
              </a:rPr>
              <a:t>Driver scans QR at pickup and handoffs</a:t>
            </a:r>
            <a:endParaRPr lang="en-US" sz="1100" dirty="0"/>
          </a:p>
        </p:txBody>
      </p:sp>
      <p:sp>
        <p:nvSpPr>
          <p:cNvPr id="10" name="Text 7"/>
          <p:cNvSpPr/>
          <p:nvPr/>
        </p:nvSpPr>
        <p:spPr>
          <a:xfrm>
            <a:off x="6513530" y="1806846"/>
            <a:ext cx="1231849" cy="441128"/>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Recipient Verify</a:t>
            </a:r>
            <a:endParaRPr lang="en-US" sz="1350" dirty="0"/>
          </a:p>
        </p:txBody>
      </p:sp>
      <p:sp>
        <p:nvSpPr>
          <p:cNvPr id="11" name="Text 8"/>
          <p:cNvSpPr/>
          <p:nvPr/>
        </p:nvSpPr>
        <p:spPr>
          <a:xfrm>
            <a:off x="6513530" y="2310712"/>
            <a:ext cx="1231849" cy="705805"/>
          </a:xfrm>
          <a:prstGeom prst="rect">
            <a:avLst/>
          </a:prstGeom>
          <a:noFill/>
          <a:ln/>
        </p:spPr>
        <p:txBody>
          <a:bodyPr wrap="square" lIns="0" tIns="0" rIns="0" bIns="0" rtlCol="0" anchor="t">
            <a:normAutofit/>
          </a:bodyPr>
          <a:lstStyle/>
          <a:p>
            <a:pPr algn="ctr" indent="0" marL="0">
              <a:lnSpc>
                <a:spcPct val="104000"/>
              </a:lnSpc>
              <a:buNone/>
            </a:pPr>
            <a:r>
              <a:rPr lang="en-US" sz="1100" dirty="0">
                <a:solidFill>
                  <a:srgbClr val="151617"/>
                </a:solidFill>
                <a:latin typeface="Unbounded" pitchFamily="34" charset="0"/>
                <a:ea typeface="Unbounded" pitchFamily="34" charset="-122"/>
                <a:cs typeface="Unbounded" pitchFamily="34" charset="-120"/>
              </a:rPr>
              <a:t>Final scan completes custody and payment</a:t>
            </a:r>
            <a:endParaRPr lang="en-US" sz="1100" dirty="0"/>
          </a:p>
        </p:txBody>
      </p:sp>
      <p:sp>
        <p:nvSpPr>
          <p:cNvPr id="12" name="Text 9"/>
          <p:cNvSpPr/>
          <p:nvPr/>
        </p:nvSpPr>
        <p:spPr>
          <a:xfrm>
            <a:off x="496119" y="3905324"/>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Automated validation at each touchpoint reduces disputes, enforces load constraints, and triggers settlement rules automatically.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151617"/>
                </a:solidFill>
                <a:latin typeface="Montserrat Black" pitchFamily="34" charset="0"/>
                <a:ea typeface="Montserrat Black" pitchFamily="34" charset="-122"/>
                <a:cs typeface="Montserrat Black" pitchFamily="34" charset="-120"/>
              </a:rPr>
              <a:t>Feasibility Summary</a:t>
            </a:r>
            <a:endParaRPr lang="en-US" sz="1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902916"/>
            <a:ext cx="1974503" cy="880988"/>
          </a:xfrm>
          <a:prstGeom prst="rect">
            <a:avLst/>
          </a:prstGeom>
        </p:spPr>
      </p:pic>
      <p:sp>
        <p:nvSpPr>
          <p:cNvPr id="4" name="Text 1"/>
          <p:cNvSpPr/>
          <p:nvPr/>
        </p:nvSpPr>
        <p:spPr>
          <a:xfrm>
            <a:off x="1439540" y="1957685"/>
            <a:ext cx="87660" cy="109612"/>
          </a:xfrm>
          <a:prstGeom prst="rect">
            <a:avLst/>
          </a:prstGeom>
          <a:noFill/>
          <a:ln/>
        </p:spPr>
        <p:txBody>
          <a:bodyPr wrap="none" lIns="0" tIns="0" rIns="0" bIns="0" rtlCol="0" anchor="ctr"/>
          <a:lstStyle/>
          <a:p>
            <a:pPr algn="ctr" indent="0" marL="0">
              <a:lnSpc>
                <a:spcPct val="100000"/>
              </a:lnSpc>
              <a:buNone/>
            </a:pPr>
            <a:r>
              <a:rPr lang="en-US" sz="650" dirty="0">
                <a:solidFill>
                  <a:srgbClr val="FFFFFF"/>
                </a:solidFill>
                <a:latin typeface="Montserrat Black" pitchFamily="34" charset="0"/>
                <a:ea typeface="Montserrat Black" pitchFamily="34" charset="-122"/>
                <a:cs typeface="Montserrat Black" pitchFamily="34" charset="-120"/>
              </a:rPr>
              <a:t>1</a:t>
            </a:r>
            <a:endParaRPr lang="en-US" sz="650" dirty="0"/>
          </a:p>
        </p:txBody>
      </p:sp>
      <p:sp>
        <p:nvSpPr>
          <p:cNvPr id="5" name="Text 2"/>
          <p:cNvSpPr/>
          <p:nvPr/>
        </p:nvSpPr>
        <p:spPr>
          <a:xfrm>
            <a:off x="578718" y="2195215"/>
            <a:ext cx="1809304" cy="114226"/>
          </a:xfrm>
          <a:prstGeom prst="rect">
            <a:avLst/>
          </a:prstGeom>
          <a:noFill/>
          <a:ln/>
        </p:spPr>
        <p:txBody>
          <a:bodyPr wrap="none" lIns="0" tIns="0" rIns="0" bIns="0" rtlCol="0" anchor="t"/>
          <a:lstStyle/>
          <a:p>
            <a:pPr algn="l" indent="0" marL="0">
              <a:lnSpc>
                <a:spcPct val="104000"/>
              </a:lnSpc>
              <a:buNone/>
            </a:pPr>
            <a:r>
              <a:rPr lang="en-US" sz="700" dirty="0">
                <a:solidFill>
                  <a:srgbClr val="151617"/>
                </a:solidFill>
                <a:latin typeface="Montserrat Black" pitchFamily="34" charset="0"/>
                <a:ea typeface="Montserrat Black" pitchFamily="34" charset="-122"/>
                <a:cs typeface="Montserrat Black" pitchFamily="34" charset="-120"/>
              </a:rPr>
              <a:t>Technical</a:t>
            </a:r>
            <a:endParaRPr lang="en-US" sz="700" dirty="0"/>
          </a:p>
        </p:txBody>
      </p:sp>
      <p:sp>
        <p:nvSpPr>
          <p:cNvPr id="6" name="Text 3"/>
          <p:cNvSpPr/>
          <p:nvPr/>
        </p:nvSpPr>
        <p:spPr>
          <a:xfrm>
            <a:off x="578718" y="2347094"/>
            <a:ext cx="1809304" cy="354211"/>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151617"/>
                </a:solidFill>
                <a:latin typeface="Unbounded" pitchFamily="34" charset="0"/>
                <a:ea typeface="Unbounded" pitchFamily="34" charset="-122"/>
                <a:cs typeface="Unbounded" pitchFamily="34" charset="-120"/>
              </a:rPr>
              <a:t>Feasible using cloud compute (e.g., AWS/GCP), containerised packing/routing microservices, and smartphone QR scanning.</a:t>
            </a:r>
            <a:endParaRPr lang="en-US" sz="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08275" y="1902916"/>
            <a:ext cx="1974577" cy="880988"/>
          </a:xfrm>
          <a:prstGeom prst="rect">
            <a:avLst/>
          </a:prstGeom>
        </p:spPr>
      </p:pic>
      <p:sp>
        <p:nvSpPr>
          <p:cNvPr id="8" name="Text 4"/>
          <p:cNvSpPr/>
          <p:nvPr/>
        </p:nvSpPr>
        <p:spPr>
          <a:xfrm>
            <a:off x="3451696" y="1957685"/>
            <a:ext cx="87660" cy="109612"/>
          </a:xfrm>
          <a:prstGeom prst="rect">
            <a:avLst/>
          </a:prstGeom>
          <a:noFill/>
          <a:ln/>
        </p:spPr>
        <p:txBody>
          <a:bodyPr wrap="none" lIns="0" tIns="0" rIns="0" bIns="0" rtlCol="0" anchor="ctr"/>
          <a:lstStyle/>
          <a:p>
            <a:pPr algn="ctr" indent="0" marL="0">
              <a:lnSpc>
                <a:spcPct val="100000"/>
              </a:lnSpc>
              <a:buNone/>
            </a:pPr>
            <a:r>
              <a:rPr lang="en-US" sz="650" dirty="0">
                <a:solidFill>
                  <a:srgbClr val="FFFFFF"/>
                </a:solidFill>
                <a:latin typeface="Montserrat Black" pitchFamily="34" charset="0"/>
                <a:ea typeface="Montserrat Black" pitchFamily="34" charset="-122"/>
                <a:cs typeface="Montserrat Black" pitchFamily="34" charset="-120"/>
              </a:rPr>
              <a:t>2</a:t>
            </a:r>
            <a:endParaRPr lang="en-US" sz="650" dirty="0"/>
          </a:p>
        </p:txBody>
      </p:sp>
      <p:sp>
        <p:nvSpPr>
          <p:cNvPr id="9" name="Text 5"/>
          <p:cNvSpPr/>
          <p:nvPr/>
        </p:nvSpPr>
        <p:spPr>
          <a:xfrm>
            <a:off x="2590874" y="2195215"/>
            <a:ext cx="1809378" cy="114226"/>
          </a:xfrm>
          <a:prstGeom prst="rect">
            <a:avLst/>
          </a:prstGeom>
          <a:noFill/>
          <a:ln/>
        </p:spPr>
        <p:txBody>
          <a:bodyPr wrap="none" lIns="0" tIns="0" rIns="0" bIns="0" rtlCol="0" anchor="t"/>
          <a:lstStyle/>
          <a:p>
            <a:pPr algn="l" indent="0" marL="0">
              <a:lnSpc>
                <a:spcPct val="104000"/>
              </a:lnSpc>
              <a:buNone/>
            </a:pPr>
            <a:r>
              <a:rPr lang="en-US" sz="700" dirty="0">
                <a:solidFill>
                  <a:srgbClr val="151617"/>
                </a:solidFill>
                <a:latin typeface="Montserrat Black" pitchFamily="34" charset="0"/>
                <a:ea typeface="Montserrat Black" pitchFamily="34" charset="-122"/>
                <a:cs typeface="Montserrat Black" pitchFamily="34" charset="-120"/>
              </a:rPr>
              <a:t>Operational</a:t>
            </a:r>
            <a:endParaRPr lang="en-US" sz="700" dirty="0"/>
          </a:p>
        </p:txBody>
      </p:sp>
      <p:sp>
        <p:nvSpPr>
          <p:cNvPr id="10" name="Text 6"/>
          <p:cNvSpPr/>
          <p:nvPr/>
        </p:nvSpPr>
        <p:spPr>
          <a:xfrm>
            <a:off x="2590874" y="2347094"/>
            <a:ext cx="1809378" cy="354211"/>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151617"/>
                </a:solidFill>
                <a:latin typeface="Unbounded" pitchFamily="34" charset="0"/>
                <a:ea typeface="Unbounded" pitchFamily="34" charset="-122"/>
                <a:cs typeface="Unbounded" pitchFamily="34" charset="-120"/>
              </a:rPr>
              <a:t>User workflows split by role reduce onboarding friction; design focuses on minimal in‑field steps for drivers and warehouse staff.</a:t>
            </a:r>
            <a:endParaRPr lang="en-US" sz="5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821558"/>
            <a:ext cx="3986733" cy="703883"/>
          </a:xfrm>
          <a:prstGeom prst="rect">
            <a:avLst/>
          </a:prstGeom>
        </p:spPr>
      </p:pic>
      <p:sp>
        <p:nvSpPr>
          <p:cNvPr id="12" name="Text 7"/>
          <p:cNvSpPr/>
          <p:nvPr/>
        </p:nvSpPr>
        <p:spPr>
          <a:xfrm>
            <a:off x="2445618" y="2876327"/>
            <a:ext cx="87660" cy="109612"/>
          </a:xfrm>
          <a:prstGeom prst="rect">
            <a:avLst/>
          </a:prstGeom>
          <a:noFill/>
          <a:ln/>
        </p:spPr>
        <p:txBody>
          <a:bodyPr wrap="none" lIns="0" tIns="0" rIns="0" bIns="0" rtlCol="0" anchor="ctr"/>
          <a:lstStyle/>
          <a:p>
            <a:pPr algn="ctr" indent="0" marL="0">
              <a:lnSpc>
                <a:spcPct val="100000"/>
              </a:lnSpc>
              <a:buNone/>
            </a:pPr>
            <a:r>
              <a:rPr lang="en-US" sz="650" dirty="0">
                <a:solidFill>
                  <a:srgbClr val="FFFFFF"/>
                </a:solidFill>
                <a:latin typeface="Montserrat Black" pitchFamily="34" charset="0"/>
                <a:ea typeface="Montserrat Black" pitchFamily="34" charset="-122"/>
                <a:cs typeface="Montserrat Black" pitchFamily="34" charset="-120"/>
              </a:rPr>
              <a:t>3</a:t>
            </a:r>
            <a:endParaRPr lang="en-US" sz="650" dirty="0"/>
          </a:p>
        </p:txBody>
      </p:sp>
      <p:sp>
        <p:nvSpPr>
          <p:cNvPr id="13" name="Text 8"/>
          <p:cNvSpPr/>
          <p:nvPr/>
        </p:nvSpPr>
        <p:spPr>
          <a:xfrm>
            <a:off x="578718" y="3113856"/>
            <a:ext cx="3821534" cy="114226"/>
          </a:xfrm>
          <a:prstGeom prst="rect">
            <a:avLst/>
          </a:prstGeom>
          <a:noFill/>
          <a:ln/>
        </p:spPr>
        <p:txBody>
          <a:bodyPr wrap="none" lIns="0" tIns="0" rIns="0" bIns="0" rtlCol="0" anchor="t"/>
          <a:lstStyle/>
          <a:p>
            <a:pPr algn="l" indent="0" marL="0">
              <a:lnSpc>
                <a:spcPct val="104000"/>
              </a:lnSpc>
              <a:buNone/>
            </a:pPr>
            <a:r>
              <a:rPr lang="en-US" sz="700" dirty="0">
                <a:solidFill>
                  <a:srgbClr val="151617"/>
                </a:solidFill>
                <a:latin typeface="Montserrat Black" pitchFamily="34" charset="0"/>
                <a:ea typeface="Montserrat Black" pitchFamily="34" charset="-122"/>
                <a:cs typeface="Montserrat Black" pitchFamily="34" charset="-120"/>
              </a:rPr>
              <a:t>Economic</a:t>
            </a:r>
            <a:endParaRPr lang="en-US" sz="700" dirty="0"/>
          </a:p>
        </p:txBody>
      </p:sp>
      <p:sp>
        <p:nvSpPr>
          <p:cNvPr id="14" name="Text 9"/>
          <p:cNvSpPr/>
          <p:nvPr/>
        </p:nvSpPr>
        <p:spPr>
          <a:xfrm>
            <a:off x="578718" y="3265736"/>
            <a:ext cx="3821534" cy="177105"/>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151617"/>
                </a:solidFill>
                <a:latin typeface="Unbounded" pitchFamily="34" charset="0"/>
                <a:ea typeface="Unbounded" pitchFamily="34" charset="-122"/>
                <a:cs typeface="Unbounded" pitchFamily="34" charset="-120"/>
              </a:rPr>
              <a:t>SaaS + transaction commissions; savings from route optimisation and reduced claims support positive ROI in early adoption.</a:t>
            </a:r>
            <a:endParaRPr lang="en-US" sz="550" dirty="0"/>
          </a:p>
        </p:txBody>
      </p:sp>
      <p:pic>
        <p:nvPicPr>
          <p:cNvPr id="15" name="Image 3" descr="preencoded.png">    </p:cNvPr>
          <p:cNvPicPr>
            <a:picLocks noChangeAspect="1"/>
          </p:cNvPicPr>
          <p:nvPr/>
        </p:nvPicPr>
        <p:blipFill>
          <a:blip r:embed="rId7"/>
          <a:stretch>
            <a:fillRect/>
          </a:stretch>
        </p:blipFill>
        <p:spPr>
          <a:xfrm>
            <a:off x="4665911" y="720849"/>
            <a:ext cx="3986733" cy="39867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82947"/>
            <a:ext cx="8151763" cy="436066"/>
          </a:xfrm>
          <a:prstGeom prst="rect">
            <a:avLst/>
          </a:prstGeom>
          <a:noFill/>
          <a:ln/>
        </p:spPr>
        <p:txBody>
          <a:bodyPr wrap="none" lIns="0" tIns="0" rIns="0" bIns="0" rtlCol="0" anchor="t"/>
          <a:lstStyle/>
          <a:p>
            <a:pPr algn="l" indent="0" marL="0">
              <a:lnSpc>
                <a:spcPct val="104000"/>
              </a:lnSpc>
              <a:buNone/>
            </a:pPr>
            <a:r>
              <a:rPr lang="en-US" sz="2700" dirty="0">
                <a:solidFill>
                  <a:srgbClr val="151617"/>
                </a:solidFill>
                <a:latin typeface="Montserrat Black" pitchFamily="34" charset="0"/>
                <a:ea typeface="Montserrat Black" pitchFamily="34" charset="-122"/>
                <a:cs typeface="Montserrat Black" pitchFamily="34" charset="-120"/>
              </a:rPr>
              <a:t>Non-Functional Requirements (Highlights)</a:t>
            </a:r>
            <a:endParaRPr lang="en-US" sz="2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193750"/>
            <a:ext cx="348853" cy="348853"/>
          </a:xfrm>
          <a:prstGeom prst="rect">
            <a:avLst/>
          </a:prstGeom>
        </p:spPr>
      </p:pic>
      <p:sp>
        <p:nvSpPr>
          <p:cNvPr id="4" name="Text 1"/>
          <p:cNvSpPr/>
          <p:nvPr/>
        </p:nvSpPr>
        <p:spPr>
          <a:xfrm>
            <a:off x="496119" y="1714277"/>
            <a:ext cx="3990008" cy="218033"/>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Security &amp; Integrity</a:t>
            </a:r>
            <a:endParaRPr lang="en-US" sz="1350" dirty="0"/>
          </a:p>
        </p:txBody>
      </p:sp>
      <p:sp>
        <p:nvSpPr>
          <p:cNvPr id="5" name="Text 2"/>
          <p:cNvSpPr/>
          <p:nvPr/>
        </p:nvSpPr>
        <p:spPr>
          <a:xfrm>
            <a:off x="496119" y="2014686"/>
            <a:ext cx="3990008" cy="664369"/>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151617"/>
                </a:solidFill>
                <a:latin typeface="Unbounded" pitchFamily="34" charset="0"/>
                <a:ea typeface="Unbounded" pitchFamily="34" charset="-122"/>
                <a:cs typeface="Unbounded" pitchFamily="34" charset="-120"/>
              </a:rPr>
              <a:t>Encrypted data at rest and in transit; tamper‑evident custody records; role‑based access control for shippers, carriers, and ops.</a:t>
            </a:r>
            <a:endParaRPr lang="en-US" sz="10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7799" y="1193750"/>
            <a:ext cx="348853" cy="348853"/>
          </a:xfrm>
          <a:prstGeom prst="rect">
            <a:avLst/>
          </a:prstGeom>
        </p:spPr>
      </p:pic>
      <p:sp>
        <p:nvSpPr>
          <p:cNvPr id="7" name="Text 3"/>
          <p:cNvSpPr/>
          <p:nvPr/>
        </p:nvSpPr>
        <p:spPr>
          <a:xfrm>
            <a:off x="4657799" y="1714277"/>
            <a:ext cx="3990082" cy="218033"/>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Performance</a:t>
            </a:r>
            <a:endParaRPr lang="en-US" sz="1350" dirty="0"/>
          </a:p>
        </p:txBody>
      </p:sp>
      <p:sp>
        <p:nvSpPr>
          <p:cNvPr id="8" name="Text 4"/>
          <p:cNvSpPr/>
          <p:nvPr/>
        </p:nvSpPr>
        <p:spPr>
          <a:xfrm>
            <a:off x="4657799" y="2014686"/>
            <a:ext cx="3990082" cy="664369"/>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151617"/>
                </a:solidFill>
                <a:latin typeface="Unbounded" pitchFamily="34" charset="0"/>
                <a:ea typeface="Unbounded" pitchFamily="34" charset="-122"/>
                <a:cs typeface="Unbounded" pitchFamily="34" charset="-120"/>
              </a:rPr>
              <a:t>Sub‑second UI responses for lookup; packing and routing results within operational SLA (configurable, e.g., </a:t>
            </a:r>
            <a:pPr algn="l" indent="0" marL="0">
              <a:lnSpc>
                <a:spcPct val="132000"/>
              </a:lnSpc>
              <a:buNone/>
            </a:pPr>
            <a:r>
              <a:rPr lang="en-US" sz="1050" dirty="0">
                <a:solidFill>
                  <a:srgbClr val="151617"/>
                </a:solidFill>
                <a:highlight>
                  <a:srgbClr val="EBDFD7"/>
                </a:highlight>
                <a:latin typeface="Consolas" pitchFamily="34" charset="0"/>
                <a:ea typeface="Consolas" pitchFamily="34" charset="-122"/>
                <a:cs typeface="Consolas" pitchFamily="34" charset="-120"/>
              </a:rPr>
              <a:t>≤10s</a:t>
            </a:r>
            <a:pPr algn="l" indent="0" marL="0">
              <a:lnSpc>
                <a:spcPct val="132000"/>
              </a:lnSpc>
              <a:buNone/>
            </a:pPr>
            <a:r>
              <a:rPr lang="en-US" sz="1050" dirty="0">
                <a:solidFill>
                  <a:srgbClr val="151617"/>
                </a:solidFill>
                <a:latin typeface="Unbounded" pitchFamily="34" charset="0"/>
                <a:ea typeface="Unbounded" pitchFamily="34" charset="-122"/>
                <a:cs typeface="Unbounded" pitchFamily="34" charset="-120"/>
              </a:rPr>
              <a:t> for typical jobs).</a:t>
            </a:r>
            <a:endParaRPr lang="en-US" sz="10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953792"/>
            <a:ext cx="348853" cy="348853"/>
          </a:xfrm>
          <a:prstGeom prst="rect">
            <a:avLst/>
          </a:prstGeom>
        </p:spPr>
      </p:pic>
      <p:sp>
        <p:nvSpPr>
          <p:cNvPr id="10" name="Text 5"/>
          <p:cNvSpPr/>
          <p:nvPr/>
        </p:nvSpPr>
        <p:spPr>
          <a:xfrm>
            <a:off x="496119" y="3474318"/>
            <a:ext cx="3990008" cy="218033"/>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Reliability &amp; Scalability</a:t>
            </a:r>
            <a:endParaRPr lang="en-US" sz="1350" dirty="0"/>
          </a:p>
        </p:txBody>
      </p:sp>
      <p:sp>
        <p:nvSpPr>
          <p:cNvPr id="11" name="Text 6"/>
          <p:cNvSpPr/>
          <p:nvPr/>
        </p:nvSpPr>
        <p:spPr>
          <a:xfrm>
            <a:off x="496119" y="3774728"/>
            <a:ext cx="3990008" cy="885825"/>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151617"/>
                </a:solidFill>
                <a:latin typeface="Unbounded" pitchFamily="34" charset="0"/>
                <a:ea typeface="Unbounded" pitchFamily="34" charset="-122"/>
                <a:cs typeface="Unbounded" pitchFamily="34" charset="-120"/>
              </a:rPr>
              <a:t>Design for horizontal scaling of compute‑intensive packing engines and high‑availability mobile sync for offline scanning.</a:t>
            </a:r>
            <a:endParaRPr lang="en-US" sz="10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57799" y="2953792"/>
            <a:ext cx="348853" cy="348853"/>
          </a:xfrm>
          <a:prstGeom prst="rect">
            <a:avLst/>
          </a:prstGeom>
        </p:spPr>
      </p:pic>
      <p:sp>
        <p:nvSpPr>
          <p:cNvPr id="13" name="Text 7"/>
          <p:cNvSpPr/>
          <p:nvPr/>
        </p:nvSpPr>
        <p:spPr>
          <a:xfrm>
            <a:off x="4657799" y="3474318"/>
            <a:ext cx="3990082" cy="218033"/>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Usability</a:t>
            </a:r>
            <a:endParaRPr lang="en-US" sz="1350" dirty="0"/>
          </a:p>
        </p:txBody>
      </p:sp>
      <p:sp>
        <p:nvSpPr>
          <p:cNvPr id="14" name="Text 8"/>
          <p:cNvSpPr/>
          <p:nvPr/>
        </p:nvSpPr>
        <p:spPr>
          <a:xfrm>
            <a:off x="4657799" y="3774728"/>
            <a:ext cx="3990082" cy="664369"/>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151617"/>
                </a:solidFill>
                <a:latin typeface="Unbounded" pitchFamily="34" charset="0"/>
                <a:ea typeface="Unbounded" pitchFamily="34" charset="-122"/>
                <a:cs typeface="Unbounded" pitchFamily="34" charset="-120"/>
              </a:rPr>
              <a:t>Minimal driver interactions: scan, confirm, navigate — optimised for low bandwidth and rugged device usage.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00645"/>
            <a:ext cx="4722763" cy="816769"/>
          </a:xfrm>
          <a:prstGeom prst="rect">
            <a:avLst/>
          </a:prstGeom>
          <a:noFill/>
          <a:ln/>
        </p:spPr>
        <p:txBody>
          <a:bodyPr wrap="square" lIns="0" tIns="0" rIns="0" bIns="0" rtlCol="0" anchor="t">
            <a:normAutofit/>
          </a:bodyPr>
          <a:lstStyle/>
          <a:p>
            <a:pPr algn="l" indent="0" marL="0">
              <a:lnSpc>
                <a:spcPct val="104000"/>
              </a:lnSpc>
              <a:buNone/>
            </a:pPr>
            <a:r>
              <a:rPr lang="en-US" sz="2550" dirty="0">
                <a:solidFill>
                  <a:srgbClr val="151617"/>
                </a:solidFill>
                <a:latin typeface="Montserrat Black" pitchFamily="34" charset="0"/>
                <a:ea typeface="Montserrat Black" pitchFamily="34" charset="-122"/>
                <a:cs typeface="Montserrat Black" pitchFamily="34" charset="-120"/>
              </a:rPr>
              <a:t>Next Steps &amp; Acceptance Criteria</a:t>
            </a:r>
            <a:endParaRPr lang="en-US" sz="2550" dirty="0"/>
          </a:p>
        </p:txBody>
      </p:sp>
      <p:sp>
        <p:nvSpPr>
          <p:cNvPr id="4" name="Text 1"/>
          <p:cNvSpPr/>
          <p:nvPr/>
        </p:nvSpPr>
        <p:spPr>
          <a:xfrm>
            <a:off x="496119" y="1398091"/>
            <a:ext cx="5179963" cy="200844"/>
          </a:xfrm>
          <a:prstGeom prst="rect">
            <a:avLst/>
          </a:prstGeom>
          <a:noFill/>
          <a:ln/>
        </p:spPr>
        <p:txBody>
          <a:bodyPr wrap="none" lIns="0" tIns="0" rIns="0" bIns="0" rtlCol="0" anchor="t"/>
          <a:lstStyle/>
          <a:p>
            <a:pPr algn="l" indent="0" marL="0">
              <a:lnSpc>
                <a:spcPct val="128000"/>
              </a:lnSpc>
              <a:buNone/>
            </a:pPr>
            <a:r>
              <a:rPr lang="en-US" sz="1000" dirty="0">
                <a:solidFill>
                  <a:srgbClr val="151617"/>
                </a:solidFill>
                <a:latin typeface="Unbounded" pitchFamily="34" charset="0"/>
                <a:ea typeface="Unbounded" pitchFamily="34" charset="-122"/>
                <a:cs typeface="Unbounded" pitchFamily="34" charset="-120"/>
              </a:rPr>
              <a:t>Prioritised milestones for MVP:</a:t>
            </a:r>
            <a:endParaRPr lang="en-US" sz="1000" dirty="0"/>
          </a:p>
        </p:txBody>
      </p:sp>
      <p:sp>
        <p:nvSpPr>
          <p:cNvPr id="5" name="Text 2"/>
          <p:cNvSpPr/>
          <p:nvPr/>
        </p:nvSpPr>
        <p:spPr>
          <a:xfrm>
            <a:off x="496119" y="1734443"/>
            <a:ext cx="4722763" cy="1775222"/>
          </a:xfrm>
          <a:prstGeom prst="rect">
            <a:avLst/>
          </a:prstGeom>
          <a:noFill/>
          <a:ln/>
        </p:spPr>
        <p:txBody>
          <a:bodyPr wrap="square" lIns="0" tIns="0" rIns="0" bIns="0" rtlCol="0" anchor="t">
            <a:normAutofit/>
          </a:bodyPr>
          <a:lstStyle/>
          <a:p>
            <a:pPr algn="l" marL="203200" indent="-203200">
              <a:lnSpc>
                <a:spcPct val="128000"/>
              </a:lnSpc>
              <a:buSzPct val="100000"/>
              <a:buFont typeface="+mj-lt"/>
              <a:buAutoNum type="arabicPeriod" startAt="1"/>
            </a:pPr>
            <a:r>
              <a:rPr lang="en-US" sz="1000" dirty="0">
                <a:solidFill>
                  <a:srgbClr val="151617"/>
                </a:solidFill>
                <a:latin typeface="Unbounded" pitchFamily="34" charset="0"/>
                <a:ea typeface="Unbounded" pitchFamily="34" charset="-122"/>
                <a:cs typeface="Unbounded" pitchFamily="34" charset="-120"/>
              </a:rPr>
              <a:t>Core APIs, auth, and user roles implemented.</a:t>
            </a:r>
            <a:endParaRPr lang="en-US" sz="1000" dirty="0"/>
          </a:p>
          <a:p>
            <a:pPr algn="l" marL="203200" indent="-203200">
              <a:lnSpc>
                <a:spcPct val="128000"/>
              </a:lnSpc>
              <a:buSzPct val="100000"/>
              <a:buFont typeface="+mj-lt"/>
              <a:buAutoNum type="arabicPeriod" startAt="2"/>
            </a:pPr>
            <a:r>
              <a:rPr lang="en-US" sz="1000" dirty="0">
                <a:solidFill>
                  <a:srgbClr val="151617"/>
                </a:solidFill>
                <a:latin typeface="Unbounded" pitchFamily="34" charset="0"/>
                <a:ea typeface="Unbounded" pitchFamily="34" charset="-122"/>
                <a:cs typeface="Unbounded" pitchFamily="34" charset="-120"/>
              </a:rPr>
              <a:t>Box-level job posting + 3D packing service with sample truck types.</a:t>
            </a:r>
            <a:endParaRPr lang="en-US" sz="1000" dirty="0"/>
          </a:p>
          <a:p>
            <a:pPr algn="l" marL="203200" indent="-203200">
              <a:lnSpc>
                <a:spcPct val="128000"/>
              </a:lnSpc>
              <a:buSzPct val="100000"/>
              <a:buFont typeface="+mj-lt"/>
              <a:buAutoNum type="arabicPeriod" startAt="3"/>
            </a:pPr>
            <a:r>
              <a:rPr lang="en-US" sz="1000" dirty="0">
                <a:solidFill>
                  <a:srgbClr val="151617"/>
                </a:solidFill>
                <a:latin typeface="Unbounded" pitchFamily="34" charset="0"/>
                <a:ea typeface="Unbounded" pitchFamily="34" charset="-122"/>
                <a:cs typeface="Unbounded" pitchFamily="34" charset="-120"/>
              </a:rPr>
              <a:t>Marketplace matcher with proximity &amp; rating filters.</a:t>
            </a:r>
            <a:endParaRPr lang="en-US" sz="1000" dirty="0"/>
          </a:p>
          <a:p>
            <a:pPr algn="l" marL="203200" indent="-203200">
              <a:lnSpc>
                <a:spcPct val="128000"/>
              </a:lnSpc>
              <a:buSzPct val="100000"/>
              <a:buFont typeface="+mj-lt"/>
              <a:buAutoNum type="arabicPeriod" startAt="4"/>
            </a:pPr>
            <a:r>
              <a:rPr lang="en-US" sz="1000" dirty="0">
                <a:solidFill>
                  <a:srgbClr val="151617"/>
                </a:solidFill>
                <a:latin typeface="Unbounded" pitchFamily="34" charset="0"/>
                <a:ea typeface="Unbounded" pitchFamily="34" charset="-122"/>
                <a:cs typeface="Unbounded" pitchFamily="34" charset="-120"/>
              </a:rPr>
              <a:t>Mobile scanning app for pickup and per-stop custody verification.</a:t>
            </a:r>
            <a:endParaRPr lang="en-US" sz="1000" dirty="0"/>
          </a:p>
          <a:p>
            <a:pPr algn="l" marL="203200" indent="-203200">
              <a:lnSpc>
                <a:spcPct val="128000"/>
              </a:lnSpc>
              <a:buSzPct val="100000"/>
              <a:buFont typeface="+mj-lt"/>
              <a:buAutoNum type="arabicPeriod" startAt="5"/>
            </a:pPr>
            <a:r>
              <a:rPr lang="en-US" sz="1000" dirty="0">
                <a:solidFill>
                  <a:srgbClr val="151617"/>
                </a:solidFill>
                <a:latin typeface="Unbounded" pitchFamily="34" charset="0"/>
                <a:ea typeface="Unbounded" pitchFamily="34" charset="-122"/>
                <a:cs typeface="Unbounded" pitchFamily="34" charset="-120"/>
              </a:rPr>
              <a:t>End-to-end payments and dispute workflow with automated triggers.</a:t>
            </a:r>
            <a:endParaRPr lang="en-US" sz="1000" dirty="0"/>
          </a:p>
        </p:txBody>
      </p:sp>
      <p:sp>
        <p:nvSpPr>
          <p:cNvPr id="6" name="Shape 3"/>
          <p:cNvSpPr/>
          <p:nvPr/>
        </p:nvSpPr>
        <p:spPr>
          <a:xfrm>
            <a:off x="496119" y="3645173"/>
            <a:ext cx="4722763" cy="1097607"/>
          </a:xfrm>
          <a:prstGeom prst="roundRect">
            <a:avLst>
              <a:gd name="adj" fmla="val 521"/>
            </a:avLst>
          </a:prstGeom>
          <a:solidFill>
            <a:srgbClr val="E4E6E7"/>
          </a:solidFill>
          <a:ln/>
        </p:spPr>
      </p:sp>
      <p:pic>
        <p:nvPicPr>
          <p:cNvPr id="7" name="Image 1" descr="preencoded.png">    </p:cNvPr>
          <p:cNvPicPr>
            <a:picLocks noChangeAspect="1"/>
          </p:cNvPicPr>
          <p:nvPr/>
        </p:nvPicPr>
        <p:blipFill>
          <a:blip r:embed="rId2"/>
          <a:stretch>
            <a:fillRect/>
          </a:stretch>
        </p:blipFill>
        <p:spPr>
          <a:xfrm>
            <a:off x="626790" y="3832250"/>
            <a:ext cx="163339" cy="130671"/>
          </a:xfrm>
          <a:prstGeom prst="rect">
            <a:avLst/>
          </a:prstGeom>
        </p:spPr>
      </p:pic>
      <p:sp>
        <p:nvSpPr>
          <p:cNvPr id="8" name="Text 4"/>
          <p:cNvSpPr/>
          <p:nvPr/>
        </p:nvSpPr>
        <p:spPr>
          <a:xfrm>
            <a:off x="920800" y="3798317"/>
            <a:ext cx="4167411" cy="803374"/>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000000"/>
                </a:solidFill>
                <a:latin typeface="Unbounded" pitchFamily="34" charset="0"/>
                <a:ea typeface="Unbounded" pitchFamily="34" charset="-122"/>
                <a:cs typeface="Unbounded" pitchFamily="34" charset="-120"/>
              </a:rPr>
              <a:t>Acceptance: successful end-to-end test with live truck, 80%+ load utilisation improvement in pilot runs, and verified chain‑of‑custody for 100 consecutive deliveries.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PROJECT DIAGRAMS</a:t>
            </a:r>
            <a:endParaRPr lang="en-US" sz="1350" dirty="0"/>
          </a:p>
        </p:txBody>
      </p:sp>
      <p:pic>
        <p:nvPicPr>
          <p:cNvPr id="3" name="Image 0" descr="preencoded.png">    </p:cNvPr>
          <p:cNvPicPr>
            <a:picLocks noChangeAspect="1"/>
          </p:cNvPicPr>
          <p:nvPr/>
        </p:nvPicPr>
        <p:blipFill>
          <a:blip r:embed="rId1"/>
          <a:stretch>
            <a:fillRect/>
          </a:stretch>
        </p:blipFill>
        <p:spPr>
          <a:xfrm>
            <a:off x="496119" y="682154"/>
            <a:ext cx="3925044" cy="5233392"/>
          </a:xfrm>
          <a:prstGeom prst="rect">
            <a:avLst/>
          </a:prstGeom>
        </p:spPr>
      </p:pic>
      <p:sp>
        <p:nvSpPr>
          <p:cNvPr id="4" name="Text 1"/>
          <p:cNvSpPr/>
          <p:nvPr/>
        </p:nvSpPr>
        <p:spPr>
          <a:xfrm>
            <a:off x="496119" y="5968678"/>
            <a:ext cx="8151763" cy="132904"/>
          </a:xfrm>
          <a:prstGeom prst="rect">
            <a:avLst/>
          </a:prstGeom>
          <a:noFill/>
          <a:ln/>
        </p:spPr>
        <p:txBody>
          <a:bodyPr wrap="none" lIns="0" tIns="0" rIns="0" bIns="0" rtlCol="0" anchor="t"/>
          <a:lstStyle/>
          <a:p>
            <a:pPr algn="ctr" indent="0" marL="0">
              <a:lnSpc>
                <a:spcPct val="104000"/>
              </a:lnSpc>
              <a:buNone/>
            </a:pPr>
            <a:r>
              <a:rPr lang="en-US" sz="800" b="1" dirty="0">
                <a:solidFill>
                  <a:srgbClr val="151617"/>
                </a:solidFill>
                <a:latin typeface="Montserrat Bold" pitchFamily="34" charset="0"/>
                <a:ea typeface="Montserrat Bold" pitchFamily="34" charset="-122"/>
                <a:cs typeface="Montserrat Bold" pitchFamily="34" charset="-120"/>
              </a:rPr>
              <a:t>ACTIVITY DIAGRAM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389855"/>
            <a:ext cx="8151763" cy="132904"/>
          </a:xfrm>
          <a:prstGeom prst="rect">
            <a:avLst/>
          </a:prstGeom>
          <a:noFill/>
          <a:ln/>
        </p:spPr>
        <p:txBody>
          <a:bodyPr wrap="none" lIns="0" tIns="0" rIns="0" bIns="0" rtlCol="0" anchor="t"/>
          <a:lstStyle/>
          <a:p>
            <a:pPr algn="ctr" indent="0" marL="0">
              <a:lnSpc>
                <a:spcPct val="104000"/>
              </a:lnSpc>
              <a:buNone/>
            </a:pPr>
            <a:r>
              <a:rPr lang="en-US" sz="800" b="1" dirty="0">
                <a:solidFill>
                  <a:srgbClr val="151617"/>
                </a:solidFill>
                <a:latin typeface="Montserrat Bold" pitchFamily="34" charset="0"/>
                <a:ea typeface="Montserrat Bold" pitchFamily="34" charset="-122"/>
                <a:cs typeface="Montserrat Bold" pitchFamily="34" charset="-120"/>
              </a:rPr>
              <a:t>USE CASE DIAGRAM</a:t>
            </a:r>
            <a:endParaRPr lang="en-US" sz="800" dirty="0"/>
          </a:p>
        </p:txBody>
      </p:sp>
      <p:pic>
        <p:nvPicPr>
          <p:cNvPr id="3" name="Image 0" descr="preencoded.png">    </p:cNvPr>
          <p:cNvPicPr>
            <a:picLocks noChangeAspect="1"/>
          </p:cNvPicPr>
          <p:nvPr/>
        </p:nvPicPr>
        <p:blipFill>
          <a:blip r:embed="rId1"/>
          <a:stretch>
            <a:fillRect/>
          </a:stretch>
        </p:blipFill>
        <p:spPr>
          <a:xfrm>
            <a:off x="496119" y="593601"/>
            <a:ext cx="4054599" cy="60818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389855"/>
            <a:ext cx="8151763" cy="110728"/>
          </a:xfrm>
          <a:prstGeom prst="rect">
            <a:avLst/>
          </a:prstGeom>
          <a:noFill/>
          <a:ln/>
        </p:spPr>
        <p:txBody>
          <a:bodyPr wrap="none" lIns="0" tIns="0" rIns="0" bIns="0" rtlCol="0" anchor="t"/>
          <a:lstStyle/>
          <a:p>
            <a:pPr algn="ctr" indent="0" marL="0">
              <a:lnSpc>
                <a:spcPct val="104000"/>
              </a:lnSpc>
              <a:buNone/>
            </a:pPr>
            <a:r>
              <a:rPr lang="en-US" sz="650" dirty="0">
                <a:solidFill>
                  <a:srgbClr val="151617"/>
                </a:solidFill>
                <a:latin typeface="Montserrat Black" pitchFamily="34" charset="0"/>
                <a:ea typeface="Montserrat Black" pitchFamily="34" charset="-122"/>
                <a:cs typeface="Montserrat Black" pitchFamily="34" charset="-120"/>
              </a:rPr>
              <a:t>SEQUENCE DIAGRAM</a:t>
            </a:r>
            <a:endParaRPr lang="en-US" sz="650" dirty="0"/>
          </a:p>
        </p:txBody>
      </p:sp>
      <p:pic>
        <p:nvPicPr>
          <p:cNvPr id="3" name="Image 0" descr="preencoded.png">    </p:cNvPr>
          <p:cNvPicPr>
            <a:picLocks noChangeAspect="1"/>
          </p:cNvPicPr>
          <p:nvPr/>
        </p:nvPicPr>
        <p:blipFill>
          <a:blip r:embed="rId1"/>
          <a:stretch>
            <a:fillRect/>
          </a:stretch>
        </p:blipFill>
        <p:spPr>
          <a:xfrm>
            <a:off x="496119" y="571426"/>
            <a:ext cx="4054599" cy="5729883"/>
          </a:xfrm>
          <a:prstGeom prst="rect">
            <a:avLst/>
          </a:prstGeom>
        </p:spPr>
      </p:pic>
      <p:sp>
        <p:nvSpPr>
          <p:cNvPr id="4" name="Text 1"/>
          <p:cNvSpPr/>
          <p:nvPr/>
        </p:nvSpPr>
        <p:spPr>
          <a:xfrm>
            <a:off x="267519" y="6341120"/>
            <a:ext cx="8608963" cy="85055"/>
          </a:xfrm>
          <a:prstGeom prst="rect">
            <a:avLst/>
          </a:prstGeom>
          <a:noFill/>
          <a:ln/>
        </p:spPr>
        <p:txBody>
          <a:bodyPr wrap="none" lIns="0" tIns="0" rIns="0" bIns="0" rtlCol="0" anchor="t"/>
          <a:lstStyle/>
          <a:p>
            <a:pPr algn="ctr" indent="0" marL="0">
              <a:lnSpc>
                <a:spcPct val="100000"/>
              </a:lnSpc>
              <a:buNone/>
            </a:pPr>
            <a:endParaRPr lang="en-US" sz="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402208"/>
            <a:ext cx="8151763" cy="141908"/>
          </a:xfrm>
          <a:prstGeom prst="rect">
            <a:avLst/>
          </a:prstGeom>
          <a:noFill/>
          <a:ln/>
        </p:spPr>
        <p:txBody>
          <a:bodyPr wrap="none" lIns="0" tIns="0" rIns="0" bIns="0" rtlCol="0" anchor="t"/>
          <a:lstStyle/>
          <a:p>
            <a:pPr algn="ctr" indent="0" marL="0">
              <a:lnSpc>
                <a:spcPct val="104000"/>
              </a:lnSpc>
              <a:buNone/>
            </a:pPr>
            <a:r>
              <a:rPr lang="en-US" sz="850" dirty="0">
                <a:solidFill>
                  <a:srgbClr val="151617"/>
                </a:solidFill>
                <a:latin typeface="Montserrat Black" pitchFamily="34" charset="0"/>
                <a:ea typeface="Montserrat Black" pitchFamily="34" charset="-122"/>
                <a:cs typeface="Montserrat Black" pitchFamily="34" charset="-120"/>
              </a:rPr>
              <a:t>ER DIAGRAM</a:t>
            </a:r>
            <a:endParaRPr lang="en-US" sz="850" dirty="0"/>
          </a:p>
        </p:txBody>
      </p:sp>
      <p:pic>
        <p:nvPicPr>
          <p:cNvPr id="3" name="Image 0" descr="preencoded.png">    </p:cNvPr>
          <p:cNvPicPr>
            <a:picLocks noChangeAspect="1"/>
          </p:cNvPicPr>
          <p:nvPr/>
        </p:nvPicPr>
        <p:blipFill>
          <a:blip r:embed="rId1"/>
          <a:stretch>
            <a:fillRect/>
          </a:stretch>
        </p:blipFill>
        <p:spPr>
          <a:xfrm>
            <a:off x="496119" y="660425"/>
            <a:ext cx="5194995" cy="3896246"/>
          </a:xfrm>
          <a:prstGeom prst="rect">
            <a:avLst/>
          </a:prstGeom>
        </p:spPr>
      </p:pic>
      <p:sp>
        <p:nvSpPr>
          <p:cNvPr id="4" name="Text 1"/>
          <p:cNvSpPr/>
          <p:nvPr/>
        </p:nvSpPr>
        <p:spPr>
          <a:xfrm>
            <a:off x="267519" y="4622081"/>
            <a:ext cx="8608963" cy="119137"/>
          </a:xfrm>
          <a:prstGeom prst="rect">
            <a:avLst/>
          </a:prstGeom>
          <a:noFill/>
          <a:ln/>
        </p:spPr>
        <p:txBody>
          <a:bodyPr wrap="none" lIns="0" tIns="0" rIns="0" bIns="0" rtlCol="0" anchor="t"/>
          <a:lstStyle/>
          <a:p>
            <a:pPr algn="ctr" indent="0" marL="0">
              <a:lnSpc>
                <a:spcPct val="109000"/>
              </a:lnSpc>
              <a:buNone/>
            </a:pP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55788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CargoSync: The Future of Logistics</a:t>
            </a:r>
            <a:endParaRPr lang="en-US" sz="2750" dirty="0"/>
          </a:p>
        </p:txBody>
      </p:sp>
      <p:sp>
        <p:nvSpPr>
          <p:cNvPr id="3" name="Text 1"/>
          <p:cNvSpPr/>
          <p:nvPr/>
        </p:nvSpPr>
        <p:spPr>
          <a:xfrm>
            <a:off x="496119" y="1341016"/>
            <a:ext cx="4752677" cy="2041327"/>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1617"/>
                </a:solidFill>
                <a:latin typeface="Unbounded" pitchFamily="34" charset="0"/>
                <a:ea typeface="Unbounded" pitchFamily="34" charset="-122"/>
                <a:cs typeface="Unbounded" pitchFamily="34" charset="-120"/>
              </a:rPr>
              <a:t>CargoSync revolutionises logistics by connecting shippers and carriers with unparalleled efficiency. Through intelligent load optimisation, real-time tracking, and secure chain-of-custody, we ensure maximum payload utilisation, reduced rehandling, and reliable, dispute-free deliveries. This platform empowers businesses with transparent operations and drives significant cost savings, transforming the future of freight.</a:t>
            </a:r>
            <a:endParaRPr lang="en-US" sz="1100" dirty="0"/>
          </a:p>
        </p:txBody>
      </p:sp>
      <p:pic>
        <p:nvPicPr>
          <p:cNvPr id="4" name="Image 0" descr="preencoded.png">    </p:cNvPr>
          <p:cNvPicPr>
            <a:picLocks noChangeAspect="1"/>
          </p:cNvPicPr>
          <p:nvPr/>
        </p:nvPicPr>
        <p:blipFill>
          <a:blip r:embed="rId1"/>
          <a:stretch>
            <a:fillRect/>
          </a:stretch>
        </p:blipFill>
        <p:spPr>
          <a:xfrm>
            <a:off x="5599435" y="1372939"/>
            <a:ext cx="3053135" cy="30531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2026-07-29T17:37:21Z</dcterms:created>
  <dcterms:modified xsi:type="dcterms:W3CDTF">2026-07-29T17:37:21Z</dcterms:modified>
</cp:coreProperties>
</file>